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5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6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3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1F33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A1F33"/>
                </a:solidFill>
                <a:latin typeface="Arial"/>
              </a:rPr>
              <a:t>Top Denial Reasons (claims)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Denial Reasons (claims)</c:v>
                </c:pt>
              </c:strCache>
            </c:strRef>
          </c:tx>
          <c:spPr>
            <a:solidFill>
              <a:srgbClr val="4A9F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A1F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CO-197</c:v>
                </c:pt>
                <c:pt idx="1">
                  <c:v>CO-50</c:v>
                </c:pt>
                <c:pt idx="2">
                  <c:v>CO-16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18700</c:v>
                </c:pt>
                <c:pt idx="1">
                  <c:v>21300</c:v>
                </c:pt>
                <c:pt idx="2">
                  <c:v>28000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8F-476D-90F4-C26C8CC2C7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6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6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1F33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A1F33"/>
                </a:solidFill>
                <a:latin typeface="Arial"/>
              </a:rPr>
              <a:t>Readmission Rate by Severity Quartile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Readmission Rate by Severity Quartile</c:v>
                </c:pt>
              </c:strCache>
            </c:strRef>
          </c:tx>
          <c:spPr>
            <a:solidFill>
              <a:srgbClr val="4A9F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A1F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Q1-Low</c:v>
                </c:pt>
                <c:pt idx="1">
                  <c:v>Q2-Med</c:v>
                </c:pt>
                <c:pt idx="2">
                  <c:v>Q3-High</c:v>
                </c:pt>
                <c:pt idx="3">
                  <c:v>Q4-Critical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8.3000000000000007</c:v>
                </c:pt>
                <c:pt idx="1">
                  <c:v>11.56</c:v>
                </c:pt>
                <c:pt idx="2">
                  <c:v>17.29</c:v>
                </c:pt>
                <c:pt idx="3">
                  <c:v>22.37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89-458F-9187-05F47DCD0C3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6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6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1F33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A1F33"/>
                </a:solidFill>
                <a:latin typeface="Arial"/>
              </a:rPr>
              <a:t>Minutes: Doctor Wait vs. Bed Wait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Minutes: Doctor Wait vs. Bed Wait</c:v>
                </c:pt>
              </c:strCache>
            </c:strRef>
          </c:tx>
          <c:spPr>
            <a:solidFill>
              <a:srgbClr val="4A9F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A1F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Bed Wait Time</c:v>
                </c:pt>
                <c:pt idx="1">
                  <c:v>Door-to-Doctor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94.95</c:v>
                </c:pt>
                <c:pt idx="1">
                  <c:v>27.9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DC-4C8B-B7B7-2D77EF99F86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6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6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1F33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A1F33"/>
                </a:solidFill>
                <a:latin typeface="Arial"/>
              </a:rPr>
              <a:t>Turnover Risk % by Unit (highlights)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Turnover Risk % by Unit (highlights)</c:v>
                </c:pt>
              </c:strCache>
            </c:strRef>
          </c:tx>
          <c:spPr>
            <a:solidFill>
              <a:srgbClr val="4A9F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A1F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Med-Surg A</c:v>
                </c:pt>
                <c:pt idx="1">
                  <c:v>SICU</c:v>
                </c:pt>
                <c:pt idx="2">
                  <c:v>ICU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8.9</c:v>
                </c:pt>
                <c:pt idx="1">
                  <c:v>10.9</c:v>
                </c:pt>
                <c:pt idx="2">
                  <c:v>11.3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58-4362-9724-BB2AAB66C0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6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6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1F33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A1F33"/>
                </a:solidFill>
                <a:latin typeface="Arial"/>
              </a:rPr>
              <a:t>Telehealth Adoption Rate by Age Band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Telehealth Adoption Rate by Age Band</c:v>
                </c:pt>
              </c:strCache>
            </c:strRef>
          </c:tx>
          <c:spPr>
            <a:solidFill>
              <a:srgbClr val="4A9F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A1F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80+</c:v>
                </c:pt>
                <c:pt idx="1">
                  <c:v>65-79</c:v>
                </c:pt>
                <c:pt idx="2">
                  <c:v>50-64</c:v>
                </c:pt>
                <c:pt idx="3">
                  <c:v>35-49</c:v>
                </c:pt>
                <c:pt idx="4">
                  <c:v>18-34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</c:v>
                </c:pt>
                <c:pt idx="1">
                  <c:v>28</c:v>
                </c:pt>
                <c:pt idx="2">
                  <c:v>35</c:v>
                </c:pt>
                <c:pt idx="3">
                  <c:v>42</c:v>
                </c:pt>
                <c:pt idx="4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16-4971-954C-CD0CECBA13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6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6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1F33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A1F33"/>
                </a:solidFill>
                <a:latin typeface="Arial"/>
              </a:rPr>
              <a:t>Supply Risk: Expiry vs. Stockout (kit count)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 Risk: Expiry vs. Stockout (kit count)</c:v>
                </c:pt>
              </c:strCache>
            </c:strRef>
          </c:tx>
          <c:spPr>
            <a:solidFill>
              <a:srgbClr val="4A9F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A1F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Stockout Risk</c:v>
                </c:pt>
                <c:pt idx="1">
                  <c:v>Expiry Risk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5E-43D0-99D1-9E22F5B2CD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6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6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7096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energy. This is the culmination of the whole program. State the team name and that this is the final defense.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preview so the panel knows the shape of the talk before we dive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2-3 of these aloud with real emphasis, then paraphrase the rest. This sets up everything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management concern maps to one of our six data stories, coming up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right, row 1 then row 2. Emphasize this was a three-track mega-project, not just a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engineering foundation that makes every number in the story trustworthy and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— Claim Denial Rate reached 13.31%; average Days in AR hit a full year — vs. the 40–50 day industry standard. Fraud exposure reached $3.09B, with $2.12B (68%+) concentrated in Upcoding alone. Top 3 denial reasons — CO-16 (missing info), CO-50 (not medically necessary), CO-197 (missing prior auth) — are pure documentation errors, not clinical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ROOT CAUSE: Not claim volume or contracts. It's two-fold: (1) Upcoding triggers automatic denials before claims even reach review, and (2) claims denied for simple documentation errors are never resubmitted — 65% are permanently lost, per industry data — driving collection time to a full year. | SOLUTION: Open a dedicated Denial Work Queue for CO-16 / CO-197 as a quick win. Build a proactive alert that flags unusual claim amounts before submission — stopping Upcoding at the source instead of reacting after denial. | IMPACT: Cutting denials and accelerating collection from 365 to under 90 days directly improves liquidity — with no price increase and no added service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— 30-day readmission is 16.88% — above the 15% target in almost every month, so not seasonal. Readmission nearly triples across severity: 8.30% (Q1-Low) → 22.37% (Q4-Critical) — consistent across every service line. Near-linear inverse link between Medication Adherence and readmission: Oncology (0.685 adherence) hits 23%; Cardiology (0.78 adherence) hits only 10%. Only 25.5% of patients get documented follow-up within 48 hours of discharge.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ROOT CAUSE: The true driver is Case Severity and Medication Adherence — not diagnosis type or seasonality. It's a structural weakness in Discharge Planning, most acute for Oncology patients. | SOLUTION: Build an intensive post-discharge follow-up program targeting Q4-severity patients regardless of diagnosis, and assign a dedicated clinical pharmacist to Oncology patients to lift medication adherence. | IMPACT: Improving adherence and follow-up is likely the cheapest, fastest lever available to lower overall readmission — the causal signal in the data is very strong.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— Door-to-Doctor is a fast 27.90 minutes — but Bed Wait Time averages 94.95 minutes, more than triple. Average Bed Occupancy is 81.96%, right at the 80–85% danger threshold for flow and safety. Wait times are consistent across nearly every unit — a hospital-wide capacity issue, not one department's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ROOT CAUSE: The real bottleneck isn't the initial physician assessment — it's bed allocation right after it. Since physician assessment itself slows once occupancy exceeds 80%, any delay in bed allocation cascades into pressure across the entire patient journey. | SOLUTION: Prioritize a Bed Turnaround optimization project, and link bed management to an automated alert that triggers accelerated-discharge protocols the moment occupancy crosses 80%. | IMPACT: Fixing the bed bottleneck automatically improves the entire pathway — clinical assessment, length of stay, and patient satisfaction — since it's the true point of origin.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— 57.73% of nurses sit in the burnout-risk zone; 10.2% are high turnover risk, at an estimated $25.6M replacement cost. Most critical hotspot: LPNs in SICU (2.15/6). ICU carries the highest turnover risk (11.3%) and cost ($3.05M). Burnout spikes sharply in the 10–20-year experience bracket — the most experienced, most valuable cohort.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ROOT CAUSE: Burnout is directly and inversely correlated with patients' evaluation of nurse communication. This is not an isolated HR issue — it directly and measurably degrades patient experience. | SOLUTION: Launch urgent psychological support for SICU LPNs first, build a dedicated retention pathway for 10–20-year nurses, and adopt “High Turnover Risk %” as a direct KPI for unit managers. | IMPACT: Every point of turnover-risk reduction converts almost 1:1 into financial savings — staff wellbeing here is a direct financial investment, not just a humanitarian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— CAHPS Composite is only 3.05/5; CMS Star achievement is just 5.4%. Perceived wait time is consistently 1.49× actual wait across every unit — an expectation-management gap. Macro racial metrics look balanced — but cross-sectional analysis (Age × Race) reveals young Asian adults (18–34) have the highest poor-diabetes-control rate in the entire dataset (34.06%), invisible in aggregate averages.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ROOT CAUSE: Patient experience is dragged down by staff burnout and poor wait-time expectation management. On equity, relying only on aggregate averages masks real, actionable disparities visible at granular intersections. | SOLUTION: Add proactive wait-time communication, mandate a recurring cross-sectional equity report (Age × Race × Diagnosis) instead of averages, and open a clinical inquiry into the young-Asian diabetes-control signal. | IMPACT: Better patient experience directly lifts CMS Star rating (and tied funding); ensuring equity protects the hospital from future regulatory and compliance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— Average OR Turnover is 34.6 minutes — above the &lt;30 min industry standard, and flat all year. Actual surgery time varies hugely by procedure (~70 min Cath → ~210 min CABG), but stays similar across all 5 surgical specialties. 13 surgical kits are at expiry risk vs. only 6 at stockout risk; overall average days-of-cover is just 12.99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ROOT CAUSE: In the OR, the issue is turnover time — dead time producing no value — not surgery duration. In supply chain, current purchasing is overly cautious (hoarding against stockouts), which trades stockout risk for financial waste through expiration. | SOLUTION: Focus first on cutting turnover time for short, high-volume procedures — cheaper and faster than adding ORs. Enforce automated FEFO policy and categorize kits by turnover rate instead of one blanket rule. | IMPACT: Better OR utilization means more cases with existing resources — incremental revenue with zero capital spend. Less expired-kit waste is direct savings without hurting surgical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credibility jump: from 6 separate findings to one coherent hospital-wide system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now leads with strengths, not raw metrics — this is deliberate: presenting 58% accuracy cold invites the wrong question. Lead with the three cards as-is. If a panel member asks for the actual numbers, have them ready: Accuracy 58%, Recall 56% and Precision 21% for the readmitted class, confusion matrix [[1006 false-neg-safe, 719 FP],[147 FN, 189 TP]] on a 2,061-row test set with 16.3% true readmission rate. Framing: a model that always predicted "no readmission" would hit ~84% accuracy while catching zero at-risk patients — so accuracy alone is a misleading benchmark here, and recall is the metric that actually protects patients and reduces CMS penalty exposure. If pushed on precision (21%), the honest answer is that it's a real trade-off, not a flaw: at threshold 0.30 the model intentionally accepts more false alarms to avoid missing true at-risk patients, and the threshold is tunable if the hospital wants to rebalance that trade-off.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sequencing, not a wishlist: quick wins fund credibility for the medium and strategic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bookend moment — read the left column as 'what they told us' and the right as 'what we found', like literally closing the loop on the opening email.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 confidently — every number on every slide is traceable back to a specific dashboard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8348472" y="-2286000"/>
            <a:ext cx="6400800" cy="6400800"/>
          </a:xfrm>
          <a:prstGeom prst="ellipse">
            <a:avLst/>
          </a:prstGeom>
          <a:solidFill>
            <a:srgbClr val="0F4C81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11512" y="4114800"/>
            <a:ext cx="4572000" cy="4572000"/>
          </a:xfrm>
          <a:prstGeom prst="ellipse">
            <a:avLst/>
          </a:prstGeom>
          <a:solidFill>
            <a:srgbClr val="4A9FD8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5720"/>
            <a:ext cx="7761203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4A9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ANALYTICS PROJECT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315616"/>
            <a:ext cx="9875520" cy="275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Data to a Data-Driven Hospital Strategy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data story: engineering, analysis, and predictive modeling for hospital operations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" y="4434840"/>
            <a:ext cx="1280160" cy="0"/>
          </a:xfrm>
          <a:prstGeom prst="line">
            <a:avLst/>
          </a:prstGeom>
          <a:noFill/>
          <a:ln w="31750">
            <a:solidFill>
              <a:srgbClr val="4A9F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Ambassadors  —  DEPI Data Analysis Track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937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Defense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66928" cy="566928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8562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Brief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20370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hospital told us — in their own words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15768"/>
            <a:ext cx="566928" cy="566928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15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Journey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304495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→ Data Analysis → Data Science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557016"/>
            <a:ext cx="566928" cy="566928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57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5387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Story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3886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problems, evidenced, diagnosed, and solved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398264"/>
            <a:ext cx="566928" cy="566928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982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3799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Model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47274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30-day readmission risk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239512"/>
            <a:ext cx="566928" cy="566928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239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522122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The Ask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556869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and what we recommend next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Ambassadors  |  Healthcare Analytics Project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BRIEF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Email From Hospital Management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A1F33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013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Hospital Executive Leadership   ·   To: Data Ambassadors Team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29514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Subject: We have problems. We don't have answers yet.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10424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feel there is financial leakage in revenue, and many claims are denied — we don't know the true cause.”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readmission rate within a month of discharge is high, risking cost and CMS compliance.”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“Recurring complaints about long wait times, especially for bed allocation.”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“Our nursing staff is burning out, and turnover is starting to worry us.”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“Surgical kit availability fluctuates — and we're not sure our ORs run at full efficiency.”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want care to be equitable for every patient — regardless of race, age, or insurance.”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54864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 short: we have problems we can feel, but not their size, cause, or priority. We need a complete picture based on data — not impressions.”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Ambassadors  |  Healthcare Analytics Project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Concerns → One Data-Driven Investigation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8F1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240280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Leakage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Denials &amp; Fraud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8F1FA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2240280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28346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Readmissions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26280" y="3246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Quality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8F1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2240280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75320" y="28346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Flow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75320" y="3246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Bottleneck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8F1FA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800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Burnout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77240" y="5212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Risk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7680" y="3977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8F1FA"/>
          </a:solidFill>
          <a:ln/>
        </p:spPr>
      </p:sp>
      <p:sp>
        <p:nvSpPr>
          <p:cNvPr id="25" name="Shape 23"/>
          <p:cNvSpPr/>
          <p:nvPr/>
        </p:nvSpPr>
        <p:spPr>
          <a:xfrm>
            <a:off x="4526280" y="4206240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26280" y="4800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Experience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526280" y="5212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Equity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46720" y="3977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8F1FA"/>
          </a:solidFill>
          <a:ln/>
        </p:spPr>
      </p:sp>
      <p:sp>
        <p:nvSpPr>
          <p:cNvPr id="30" name="Shape 28"/>
          <p:cNvSpPr/>
          <p:nvPr/>
        </p:nvSpPr>
        <p:spPr>
          <a:xfrm>
            <a:off x="8275320" y="4206240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75320" y="4800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&amp; Supply Chain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275320" y="5212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Ambassadors  |  Healthcare Analytics Project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JOURNEY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Journey From Raw Data … to Decision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tracks, one mega-project: Data Engineering  ·  Data Analysis  ·  Data Science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350008"/>
            <a:ext cx="10543032" cy="0"/>
          </a:xfrm>
          <a:prstGeom prst="line">
            <a:avLst/>
          </a:prstGeom>
          <a:noFill/>
          <a:ln w="19050">
            <a:solidFill>
              <a:srgbClr val="4A9F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965960"/>
            <a:ext cx="768096" cy="768096"/>
          </a:xfrm>
          <a:prstGeom prst="ellipse">
            <a:avLst/>
          </a:prstGeom>
          <a:solidFill>
            <a:srgbClr val="0F4C81"/>
          </a:solidFill>
          <a:ln w="19050">
            <a:solidFill>
              <a:srgbClr val="4A9F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9659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" y="28072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Research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96084" y="1965960"/>
            <a:ext cx="768096" cy="768096"/>
          </a:xfrm>
          <a:prstGeom prst="ellipse">
            <a:avLst/>
          </a:prstGeom>
          <a:solidFill>
            <a:srgbClr val="0F4C81"/>
          </a:solidFill>
          <a:ln w="19050">
            <a:solidFill>
              <a:srgbClr val="4A9F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6084" y="19659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02892" y="28072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953256" y="1965960"/>
            <a:ext cx="768096" cy="768096"/>
          </a:xfrm>
          <a:prstGeom prst="ellipse">
            <a:avLst/>
          </a:prstGeom>
          <a:solidFill>
            <a:srgbClr val="0F4C81"/>
          </a:solidFill>
          <a:ln w="19050">
            <a:solidFill>
              <a:srgbClr val="4A9F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53256" y="19659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0064" y="28072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710428" y="1965960"/>
            <a:ext cx="768096" cy="768096"/>
          </a:xfrm>
          <a:prstGeom prst="ellipse">
            <a:avLst/>
          </a:prstGeom>
          <a:solidFill>
            <a:srgbClr val="0F4C81"/>
          </a:solidFill>
          <a:ln w="19050">
            <a:solidFill>
              <a:srgbClr val="4A9F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0428" y="19659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17236" y="28072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467600" y="1965960"/>
            <a:ext cx="768096" cy="768096"/>
          </a:xfrm>
          <a:prstGeom prst="ellipse">
            <a:avLst/>
          </a:prstGeom>
          <a:solidFill>
            <a:srgbClr val="0F4C81"/>
          </a:solidFill>
          <a:ln w="19050">
            <a:solidFill>
              <a:srgbClr val="4A9F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67600" y="19659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74408" y="28072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Integration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224772" y="1965960"/>
            <a:ext cx="768096" cy="768096"/>
          </a:xfrm>
          <a:prstGeom prst="ellipse">
            <a:avLst/>
          </a:prstGeom>
          <a:solidFill>
            <a:srgbClr val="0F4C81"/>
          </a:solidFill>
          <a:ln w="19050">
            <a:solidFill>
              <a:srgbClr val="4A9F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24772" y="19659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31580" y="28072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981944" y="1965960"/>
            <a:ext cx="768096" cy="768096"/>
          </a:xfrm>
          <a:prstGeom prst="ellipse">
            <a:avLst/>
          </a:prstGeom>
          <a:solidFill>
            <a:srgbClr val="1D9E75"/>
          </a:solidFill>
          <a:ln w="19050">
            <a:solidFill>
              <a:srgbClr val="4A9F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81944" y="19659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88752" y="28072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Dashboards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22960" y="4178808"/>
            <a:ext cx="10543032" cy="0"/>
          </a:xfrm>
          <a:prstGeom prst="line">
            <a:avLst/>
          </a:prstGeom>
          <a:noFill/>
          <a:ln w="19050">
            <a:solidFill>
              <a:srgbClr val="4A9F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912" y="3794760"/>
            <a:ext cx="768096" cy="768096"/>
          </a:xfrm>
          <a:prstGeom prst="ellipse">
            <a:avLst/>
          </a:prstGeom>
          <a:solidFill>
            <a:srgbClr val="0F4C81"/>
          </a:solidFill>
          <a:ln w="19050">
            <a:solidFill>
              <a:srgbClr val="4A9F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37947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" y="46360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Analysis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47518" y="3794760"/>
            <a:ext cx="768096" cy="768096"/>
          </a:xfrm>
          <a:prstGeom prst="ellipse">
            <a:avLst/>
          </a:prstGeom>
          <a:solidFill>
            <a:srgbClr val="0F4C81"/>
          </a:solidFill>
          <a:ln w="19050">
            <a:solidFill>
              <a:srgbClr val="4A9F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47518" y="37947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154326" y="46360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56125" y="3794760"/>
            <a:ext cx="768096" cy="768096"/>
          </a:xfrm>
          <a:prstGeom prst="ellipse">
            <a:avLst/>
          </a:prstGeom>
          <a:solidFill>
            <a:srgbClr val="0F4C81"/>
          </a:solidFill>
          <a:ln w="19050">
            <a:solidFill>
              <a:srgbClr val="4A9F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56125" y="37947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262933" y="46360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Analysis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764731" y="3794760"/>
            <a:ext cx="768096" cy="768096"/>
          </a:xfrm>
          <a:prstGeom prst="ellipse">
            <a:avLst/>
          </a:prstGeom>
          <a:solidFill>
            <a:srgbClr val="0F4C81"/>
          </a:solidFill>
          <a:ln w="19050">
            <a:solidFill>
              <a:srgbClr val="4A9F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4731" y="37947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71539" y="46360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 Analysis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873338" y="3794760"/>
            <a:ext cx="768096" cy="768096"/>
          </a:xfrm>
          <a:prstGeom prst="ellipse">
            <a:avLst/>
          </a:prstGeom>
          <a:solidFill>
            <a:srgbClr val="0F4C81"/>
          </a:solidFill>
          <a:ln w="19050">
            <a:solidFill>
              <a:srgbClr val="4A9F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73338" y="37947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480146" y="46360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0981944" y="3794760"/>
            <a:ext cx="768096" cy="768096"/>
          </a:xfrm>
          <a:prstGeom prst="ellipse">
            <a:avLst/>
          </a:prstGeom>
          <a:solidFill>
            <a:srgbClr val="1D9E75"/>
          </a:solidFill>
          <a:ln w="19050">
            <a:solidFill>
              <a:srgbClr val="4A9F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981944" y="37947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588752" y="46360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didn't just build a dashboard… we didn't just build a model… we built a full healthcare project.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Ambassadors  |  Healthcare Analytics Project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FOUNDATION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Scale Behind the Story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E8F1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488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80720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Encounters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9202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E8F1FA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0" y="21488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297680" y="280720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9202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E8F1FA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0" y="21488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046720" y="280720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Domains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E8F1F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319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ar-EG" sz="3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3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0+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48640" y="459028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97680" y="37033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E8F1FA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39319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297680" y="459028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46720" y="37033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E8F1FA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0" y="39319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046720" y="459028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Validated vs. Source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Bronze → Silver → Gold (Medallion) on SQL Server, feeding a Star Schema in Power BI.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Ambassadors  |  Healthcare Analytics Project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45752" y="411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1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Leakage &amp; Claim Denials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8F1F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56232"/>
            <a:ext cx="10424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“Management said:”  “We feel there is financial leakage in the revenue cycle, and a large percentage of claims are being denied or delayed — but we don’t know the true root cause.”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E8F1F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358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13.31%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369417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Denial Rate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9272" y="29260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E8F1FA"/>
          </a:solidFill>
          <a:ln/>
        </p:spPr>
      </p:sp>
      <p:sp>
        <p:nvSpPr>
          <p:cNvPr id="11" name="Text 9"/>
          <p:cNvSpPr/>
          <p:nvPr/>
        </p:nvSpPr>
        <p:spPr>
          <a:xfrm>
            <a:off x="3319272" y="30358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365 days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319272" y="369417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Days in AR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9904" y="29260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E8F1FA"/>
          </a:solidFill>
          <a:ln/>
        </p:spPr>
      </p:sp>
      <p:sp>
        <p:nvSpPr>
          <p:cNvPr id="14" name="Text 12"/>
          <p:cNvSpPr/>
          <p:nvPr/>
        </p:nvSpPr>
        <p:spPr>
          <a:xfrm>
            <a:off x="6089904" y="30358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$3.09B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089904" y="369417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Exposure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60536" y="29260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E8F1FA"/>
          </a:solidFill>
          <a:ln/>
        </p:spPr>
      </p:sp>
      <p:sp>
        <p:nvSpPr>
          <p:cNvPr id="17" name="Text 15"/>
          <p:cNvSpPr/>
          <p:nvPr/>
        </p:nvSpPr>
        <p:spPr>
          <a:xfrm>
            <a:off x="8860536" y="30358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860536" y="369417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fraud = Upcoding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343400"/>
            <a:ext cx="6309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Denial Rate reached 13.31%; average Days in AR hit a full year — vs. the 40–50 day industry standard.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exposure reached $3.09B, with $2.12B (68%+) concentrated in Upcoding alone.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denial reasons — CO-16 (missing info), CO-50 (not medically necessary), CO-197 (missing prior auth) — are pure documentation errors, not clinical ones.</a:t>
            </a:r>
            <a:endParaRPr lang="en-US" sz="125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7086600" y="4206240"/>
          <a:ext cx="45262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Ambassadors  |  Healthcare Analytics Project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45752" y="411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1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Leakage &amp; Claim Denials — So What?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A1F33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01168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395728"/>
            <a:ext cx="305409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claim volume or contracts. It's two-fold: (1) Upcoding triggers automatic denials before claims even reach review, and (2) claims denied for simple documentation errors are never resubmitted — 65% are permanently lost, per industry data — driving collection time to a full year.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A1F33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53712" y="201168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53712" y="2395728"/>
            <a:ext cx="305409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dedicated Denial Work Queue for CO-16 / CO-197 as a quick win. Build a proactive alert that flags unusual claim amounts before submission — stopping Upcoding at the source instead of reacting after denial.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82880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A1F33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02752" y="201168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02752" y="2395728"/>
            <a:ext cx="305409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denials and accelerating collection from 365 to under 90 days directly improves liquidity — with no price increase and no added service volume.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Ambassadors  |  Healthcare Analytics Project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45752" y="411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2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STORY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Readmissions &amp; Clinical Quality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8F1F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56232"/>
            <a:ext cx="10424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“Management said:”  “The patient readmission rate within a month of discharge is high, costing us money and posing a regulatory risk with CMS — it's unclear exactly why.”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E8F1F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358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16.88%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369417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Readmission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9272" y="29260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E8F1FA"/>
          </a:solidFill>
          <a:ln/>
        </p:spPr>
      </p:sp>
      <p:sp>
        <p:nvSpPr>
          <p:cNvPr id="11" name="Text 9"/>
          <p:cNvSpPr/>
          <p:nvPr/>
        </p:nvSpPr>
        <p:spPr>
          <a:xfrm>
            <a:off x="3319272" y="30358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22.37%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319272" y="369417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at Q4 Severity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9904" y="29260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E8F1FA"/>
          </a:solidFill>
          <a:ln/>
        </p:spPr>
      </p:sp>
      <p:sp>
        <p:nvSpPr>
          <p:cNvPr id="14" name="Text 12"/>
          <p:cNvSpPr/>
          <p:nvPr/>
        </p:nvSpPr>
        <p:spPr>
          <a:xfrm>
            <a:off x="6089904" y="30358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0.685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089904" y="369417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 Med. Adherence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60536" y="29260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E8F1FA"/>
          </a:solidFill>
          <a:ln/>
        </p:spPr>
      </p:sp>
      <p:sp>
        <p:nvSpPr>
          <p:cNvPr id="17" name="Text 15"/>
          <p:cNvSpPr/>
          <p:nvPr/>
        </p:nvSpPr>
        <p:spPr>
          <a:xfrm>
            <a:off x="8860536" y="30358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25.5%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860536" y="369417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48h Follow-Up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343400"/>
            <a:ext cx="6309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readmission is 16.88% — above the 15% target in almost every month, so not seasonal.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nearly triples across severity: 8.30% (Q1-Low) → 22.37% (Q4-Critical) — consistent across every service line.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Near-linear inverse link between Medication Adherence and readmission: Oncology (0.685 adherence) hits 23%; Cardiology (0.78 adherence) hits only 10%.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25.5% of patients get documented follow-up within 48 hours of discharge.</a:t>
            </a:r>
            <a:endParaRPr lang="en-US" sz="125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7086600" y="4206240"/>
          <a:ext cx="45262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Ambassadors  |  Healthcare Analytics Project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45752" y="411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2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STORY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Readmissions &amp; Clinical Quality — So What?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A1F33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01168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395728"/>
            <a:ext cx="305409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true driver is Case Severity and Medication Adherence — not diagnosis type or seasonality. It's a structural weakness in Discharge Planning, most acute for Oncology patients.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A1F33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53712" y="201168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53712" y="2395728"/>
            <a:ext cx="305409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intensive post-discharge follow-up program targeting Q4-severity patients regardless of diagnosis, and assign a dedicated clinical pharmacist to Oncology patients to lift medication adherence.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82880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A1F33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02752" y="201168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02752" y="2395728"/>
            <a:ext cx="305409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adherence and follow-up is likely the cheapest, fastest lever available to lower overall readmission — the causal signal in the data is very strong.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Ambassadors  |  Healthcare Analytics Project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45752" y="411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3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STORY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Flow Bottleneck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8F1F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56232"/>
            <a:ext cx="10424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“Management said:”  “We are receiving recurring patient complaints about long wait times, especially for bed allocation, and overall patient experience needs to improve.”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E8F1F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358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27.90 min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369417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Door-to-Doctor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9272" y="29260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E8F1FA"/>
          </a:solidFill>
          <a:ln/>
        </p:spPr>
      </p:sp>
      <p:sp>
        <p:nvSpPr>
          <p:cNvPr id="11" name="Text 9"/>
          <p:cNvSpPr/>
          <p:nvPr/>
        </p:nvSpPr>
        <p:spPr>
          <a:xfrm>
            <a:off x="3319272" y="30358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94.95 min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319272" y="369417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Wait Time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9904" y="29260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E8F1FA"/>
          </a:solidFill>
          <a:ln/>
        </p:spPr>
      </p:sp>
      <p:sp>
        <p:nvSpPr>
          <p:cNvPr id="14" name="Text 12"/>
          <p:cNvSpPr/>
          <p:nvPr/>
        </p:nvSpPr>
        <p:spPr>
          <a:xfrm>
            <a:off x="6089904" y="30358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81.96%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089904" y="369417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Bed Occupancy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60536" y="29260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E8F1FA"/>
          </a:solidFill>
          <a:ln/>
        </p:spPr>
      </p:sp>
      <p:sp>
        <p:nvSpPr>
          <p:cNvPr id="17" name="Text 15"/>
          <p:cNvSpPr/>
          <p:nvPr/>
        </p:nvSpPr>
        <p:spPr>
          <a:xfrm>
            <a:off x="8860536" y="30358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3.4×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860536" y="369417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Wait vs. Doctor Wait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343400"/>
            <a:ext cx="6309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Door-to-Doctor is a fast 27.90 minutes — but Bed Wait Time averages 94.95 minutes, more than triple.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Bed Occupancy is 81.96%, right at the 80–85% danger threshold for flow and safety.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times are consistent across nearly every unit — a hospital-wide capacity issue, not one department's problem.</a:t>
            </a:r>
            <a:endParaRPr lang="en-US" sz="125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7086600" y="4206240"/>
          <a:ext cx="45262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Ambassadors  |  Healthcare Analytics Project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45752" y="411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3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STORY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Flow Bottleneck — So What?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A1F33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01168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395728"/>
            <a:ext cx="305409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bottleneck isn't the initial physician assessment — it's bed allocation right after it. Since physician assessment itself slows once occupancy exceeds 80%, any delay in bed allocation cascades into pressure across the entire patient journey.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A1F33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53712" y="201168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53712" y="2395728"/>
            <a:ext cx="305409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a Bed Turnaround optimization project, and link bed management to an automated alert that triggers accelerated-discharge protocols the moment occupancy crosses 80%.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82880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A1F33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02752" y="201168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02752" y="2395728"/>
            <a:ext cx="305409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the bed bottleneck automatically improves the entire pathway — clinical assessment, length of stay, and patient satisfaction — since it's the true point of origin.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Ambassadors  |  Healthcare Analytics Project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45752" y="411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4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STORY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Burnout &amp; Turnover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8F1F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56232"/>
            <a:ext cx="10424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“Management said:”  “The nursing staff is experiencing severe burnout, and the turnover rate is starting to worry us. We need to understand this before it escalates.”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E8F1F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358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57.73%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369417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Nurses at Burnout Risk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9272" y="29260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E8F1FA"/>
          </a:solidFill>
          <a:ln/>
        </p:spPr>
      </p:sp>
      <p:sp>
        <p:nvSpPr>
          <p:cNvPr id="11" name="Text 9"/>
          <p:cNvSpPr/>
          <p:nvPr/>
        </p:nvSpPr>
        <p:spPr>
          <a:xfrm>
            <a:off x="3319272" y="30358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319272" y="369417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Turnover Risk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9904" y="29260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E8F1FA"/>
          </a:solidFill>
          <a:ln/>
        </p:spPr>
      </p:sp>
      <p:sp>
        <p:nvSpPr>
          <p:cNvPr id="14" name="Text 12"/>
          <p:cNvSpPr/>
          <p:nvPr/>
        </p:nvSpPr>
        <p:spPr>
          <a:xfrm>
            <a:off x="6089904" y="30358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$25.6M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089904" y="369417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Turnover Cost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60536" y="29260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E8F1FA"/>
          </a:solidFill>
          <a:ln/>
        </p:spPr>
      </p:sp>
      <p:sp>
        <p:nvSpPr>
          <p:cNvPr id="17" name="Text 15"/>
          <p:cNvSpPr/>
          <p:nvPr/>
        </p:nvSpPr>
        <p:spPr>
          <a:xfrm>
            <a:off x="8860536" y="30358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2.15/6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860536" y="369417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Burnout (SICU LPN)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343400"/>
            <a:ext cx="6309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57.73% of nurses sit in the burnout-risk zone; 10.2% are high turnover risk, at an estimated $25.6M replacement cost.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critical hotspot: LPNs in SICU (2.15/6). ICU carries the highest turnover risk (11.3%) and cost ($3.05M).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spikes sharply in the 10–20-year experience bracket — the most experienced, most valuable cohort.</a:t>
            </a:r>
            <a:endParaRPr lang="en-US" sz="125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7086600" y="4206240"/>
          <a:ext cx="45262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Ambassadors  |  Healthcare Analytics Project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45752" y="411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4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STORY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Burnout &amp; Turnover — So What?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A1F33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01168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395728"/>
            <a:ext cx="305409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is directly and inversely correlated with patients' evaluation of nurse communication. This is not an isolated HR issue — it directly and measurably degrades patient experience.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A1F33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53712" y="201168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53712" y="2395728"/>
            <a:ext cx="305409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urgent psychological support for SICU LPNs first, build a dedicated retention pathway for 10–20-year nurses, and adopt “High Turnover Risk %” as a direct KPI for unit managers.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82880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A1F33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02752" y="201168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02752" y="2395728"/>
            <a:ext cx="305409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 of turnover-risk reduction converts almost 1:1 into financial savings — staff wellbeing here is a direct financial investment, not just a humanitarian one.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Ambassadors  |  Healthcare Analytics Project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45752" y="411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5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STORY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Experience &amp; Health Equity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8F1F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56232"/>
            <a:ext cx="10424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“Management said:”  “We want to ensure the care we provide is equitable for all patients, regardless of race, age, or insurance type — and overall experience needs to improve.”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E8F1F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358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3.05/5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369417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CAHPS Composite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9272" y="29260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E8F1FA"/>
          </a:solidFill>
          <a:ln/>
        </p:spPr>
      </p:sp>
      <p:sp>
        <p:nvSpPr>
          <p:cNvPr id="11" name="Text 9"/>
          <p:cNvSpPr/>
          <p:nvPr/>
        </p:nvSpPr>
        <p:spPr>
          <a:xfrm>
            <a:off x="3319272" y="30358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319272" y="369417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Star Achievement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9904" y="29260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E8F1FA"/>
          </a:solidFill>
          <a:ln/>
        </p:spPr>
      </p:sp>
      <p:sp>
        <p:nvSpPr>
          <p:cNvPr id="14" name="Text 12"/>
          <p:cNvSpPr/>
          <p:nvPr/>
        </p:nvSpPr>
        <p:spPr>
          <a:xfrm>
            <a:off x="6089904" y="30358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1.49×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089904" y="369417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vs Actual Wait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60536" y="29260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E8F1FA"/>
          </a:solidFill>
          <a:ln/>
        </p:spPr>
      </p:sp>
      <p:sp>
        <p:nvSpPr>
          <p:cNvPr id="17" name="Text 15"/>
          <p:cNvSpPr/>
          <p:nvPr/>
        </p:nvSpPr>
        <p:spPr>
          <a:xfrm>
            <a:off x="8860536" y="30358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34.06%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860536" y="369417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Diabetes Control (young Asian pts.)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343400"/>
            <a:ext cx="6309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CAHPS Composite is only 3.05/5; CMS Star achievement is just 5.4%.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wait time is consistently 1.49× actual wait across every unit — an expectation-management gap.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racial metrics look balanced — but cross-sectional analysis (Age × Race) reveals young Asian adults (18–34) have the highest poor-diabetes-control rate in the entire dataset (34.06%), invisible in aggregate averages.</a:t>
            </a:r>
            <a:endParaRPr lang="en-US" sz="125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7086600" y="4206240"/>
          <a:ext cx="45262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Ambassadors  |  Healthcare Analytics Project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45752" y="411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5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STORY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Experience &amp; Health Equity — So What?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A1F33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01168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395728"/>
            <a:ext cx="305409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experience is dragged down by staff burnout and poor wait-time expectation management. On equity, relying only on aggregate averages masks real, actionable disparities visible at granular intersections.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A1F33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53712" y="201168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53712" y="2395728"/>
            <a:ext cx="305409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proactive wait-time communication, mandate a recurring cross-sectional equity report (Age × Race × Diagnosis) instead of averages, and open a clinical inquiry into the young-Asian diabetes-control signal.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82880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A1F33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02752" y="201168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02752" y="2395728"/>
            <a:ext cx="305409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patient experience directly lifts CMS Star rating (and tied funding); ensuring equity protects the hospital from future regulatory and compliance risk.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Ambassadors  |  Healthcare Analytics Project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45752" y="411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6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STORY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Efficiency &amp; Supply Chain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8F1F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56232"/>
            <a:ext cx="10424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“Management said:”  “There's fluctuation in surgical kit availability, and it's unclear if we're utilizing our operating rooms at maximum efficiency.”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E8F1F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358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34.6 min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369417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 Turnover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9272" y="29260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E8F1FA"/>
          </a:solidFill>
          <a:ln/>
        </p:spPr>
      </p:sp>
      <p:sp>
        <p:nvSpPr>
          <p:cNvPr id="11" name="Text 9"/>
          <p:cNvSpPr/>
          <p:nvPr/>
        </p:nvSpPr>
        <p:spPr>
          <a:xfrm>
            <a:off x="3319272" y="30358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92.77 min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319272" y="369417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 Time / Case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9904" y="29260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E8F1FA"/>
          </a:solidFill>
          <a:ln/>
        </p:spPr>
      </p:sp>
      <p:sp>
        <p:nvSpPr>
          <p:cNvPr id="14" name="Text 12"/>
          <p:cNvSpPr/>
          <p:nvPr/>
        </p:nvSpPr>
        <p:spPr>
          <a:xfrm>
            <a:off x="6089904" y="30358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089904" y="369417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 at Expiry Risk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60536" y="29260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E8F1FA"/>
          </a:solidFill>
          <a:ln/>
        </p:spPr>
      </p:sp>
      <p:sp>
        <p:nvSpPr>
          <p:cNvPr id="17" name="Text 15"/>
          <p:cNvSpPr/>
          <p:nvPr/>
        </p:nvSpPr>
        <p:spPr>
          <a:xfrm>
            <a:off x="8860536" y="30358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12.99 days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860536" y="369417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Days of Supply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343400"/>
            <a:ext cx="6309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 Turnover is 34.6 minutes — above the &lt;30 min industry standard, and flat all year.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surgery time varies hugely by procedure (~70 min Cath → ~210 min CABG), but stays similar across all 5 surgical specialties.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surgical kits are at expiry risk vs. only 6 at stockout risk; overall average days-of-cover is just 12.99 days.</a:t>
            </a:r>
            <a:endParaRPr lang="en-US" sz="125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7086600" y="4206240"/>
          <a:ext cx="45262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Ambassadors  |  Healthcare Analytics Project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45752" y="411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6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STORY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Efficiency &amp; Supply Chain — So What?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A1F33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01168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395728"/>
            <a:ext cx="305409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OR, the issue is turnover time — dead time producing no value — not surgery duration. In supply chain, current purchasing is overly cautious (hoarding against stockouts), which trades stockout risk for financial waste through expiration.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A1F33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53712" y="201168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53712" y="2395728"/>
            <a:ext cx="305409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first on cutting turnover time for short, high-volume procedures — cheaper and faster than adding ORs. Enforce automated FEFO policy and categorize kits by turnover rate instead of one blanket rule.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82880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A1F33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02752" y="201168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02752" y="2395728"/>
            <a:ext cx="305409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OR utilization means more cases with existing resources — incremental revenue with zero capital spend. Less expired-kit waste is direct savings without hurting surgical readiness.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Ambassadors  |  Healthcare Analytics Project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 6 Findings. It's One System.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few root drivers surface again and again across the hospital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75688"/>
            <a:ext cx="146304" cy="146304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659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A9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Severity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931920" y="196596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both Readmission Rate AND Length of Stay / OR time — not diagnosis type alone.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035808"/>
            <a:ext cx="146304" cy="146304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9260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A9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Burnout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31920" y="29260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both HR turnover cost AND patient-reported communication scores — not an isolated HR issue.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995928"/>
            <a:ext cx="146304" cy="146304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8862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A9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 Allocation Bottleneck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931920" y="38862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both patient flow AND patient experience — the true point of origin for wait-time complaints.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956048"/>
            <a:ext cx="146304" cy="146304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8463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A9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Gaps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931920" y="48463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both claim denials AND compliance risk — fixable procedurally, not just financially.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Ambassadors  |  Healthcare Analytics Project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 30-Day Readmission Risk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56232"/>
            <a:ext cx="10424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understanding what happened, we built a model to predict which patients are at risk of readmission — before they leave the hospital.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356616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A1F33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29718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RECALL-FIRST BY DESIGN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3355848"/>
            <a:ext cx="30540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deliberately tuned to 0.30 (not the default 0.50), catching 56% of true readmissions before discharge — because missing an at-risk patient costs far more than one extra follow-up call.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2788920"/>
            <a:ext cx="356616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A1F33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53712" y="29718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ALGORITHMS, ONE VOTE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53712" y="3355848"/>
            <a:ext cx="30540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Extra Trees &amp; XGBoost combined via soft voting in one reproducible, leakage-safe Pipeline — three different error patterns blended into a single, more stable risk score.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2788920"/>
            <a:ext cx="356616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25400" dir="5400000" algn="bl" rotWithShape="0">
              <a:srgbClr val="0A1F33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02752" y="29718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THAT MATCH THE DIAGNOSIS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02752" y="3355848"/>
            <a:ext cx="30540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predictive signals — severity_index, medication_adherence_pdc, follow_up_within_48h_flag — are the exact drivers Story 2 already proved by diagnostic analysis, so the score is explainable, not a black box.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  Every design choice traces back to a real trade-off: catching at-risk patients matters more than a high accuracy number on an imbalanced outcome.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Ambassadors  |  Healthcare Analytics Project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Prioritized Recommendations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E8F1F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9842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" y="235000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months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04672" y="2788920"/>
            <a:ext cx="305409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work queue for CO-16 / CO-197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Auto-alert at 80% bed occupancy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FEFO for supply kits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support for SICU LPNs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78308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E8F1FA"/>
          </a:solidFill>
          <a:ln/>
        </p:spPr>
      </p:sp>
      <p:sp>
        <p:nvSpPr>
          <p:cNvPr id="9" name="Text 7"/>
          <p:cNvSpPr/>
          <p:nvPr/>
        </p:nvSpPr>
        <p:spPr>
          <a:xfrm>
            <a:off x="4553712" y="19842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Medium-Term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53712" y="235000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3–12 months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53712" y="2788920"/>
            <a:ext cx="305409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Intensive post-discharge follow-up (Q4 severity)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turnaround optimization project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OR turnover on high-volume procedures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track for 10–20yr nurses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78308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E8F1FA"/>
          </a:solidFill>
          <a:ln/>
        </p:spPr>
      </p:sp>
      <p:sp>
        <p:nvSpPr>
          <p:cNvPr id="13" name="Text 11"/>
          <p:cNvSpPr/>
          <p:nvPr/>
        </p:nvSpPr>
        <p:spPr>
          <a:xfrm>
            <a:off x="8302752" y="19842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02752" y="235000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months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02752" y="2788920"/>
            <a:ext cx="305409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upcoding detection pre-submission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Procedure-specific OR time standards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equity report (Age × Race × Dx)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adoption program for seniors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Ambassadors  |  Healthcare Analytics Project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CIRCLE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Where We Started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56232"/>
            <a:ext cx="365760" cy="36576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783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leakage &amp; denials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15000" y="17830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found: Upcoding + unresubmitted documentation errors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69464"/>
            <a:ext cx="365760" cy="36576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69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49631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readmission rate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715000" y="249631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found: Case severity + medication adherence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82696"/>
            <a:ext cx="365760" cy="36576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20954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wait times / bed complaints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715000" y="320954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found: Bed allocation bottleneck at 82% occupancy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95928"/>
            <a:ext cx="365760" cy="36576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92277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Nursing burnout &amp; turnover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715000" y="392277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found: Linked directly to patient experience scores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365760" cy="36576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463600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Surgical kit &amp; OR uncertainty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715000" y="463600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found: OR turnover time + overly cautious purchasing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422392"/>
            <a:ext cx="365760" cy="36576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422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53492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&amp; patient experience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715000" y="53492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found: Hidden intersectional gaps + wait-time perception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Ambassadors  |  Healthcare Analytics Project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286000"/>
            <a:ext cx="6400800" cy="6400800"/>
          </a:xfrm>
          <a:prstGeom prst="ellipse">
            <a:avLst/>
          </a:prstGeom>
          <a:solidFill>
            <a:srgbClr val="0F4C81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572000" cy="4572000"/>
          </a:xfrm>
          <a:prstGeom prst="ellipse">
            <a:avLst/>
          </a:prstGeom>
          <a:solidFill>
            <a:srgbClr val="4A9FD8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A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Ambassadors  —  Healthcare Analytics Project  —  DEPI Data Analysis Track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3898</Words>
  <Application>Microsoft Office PowerPoint</Application>
  <PresentationFormat>Widescreen</PresentationFormat>
  <Paragraphs>401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Analytics Project</dc:title>
  <dc:subject>PptxGenJS Presentation</dc:subject>
  <dc:creator>Data Ambassadors</dc:creator>
  <cp:lastModifiedBy>Ismail Samir ElSayed Hassan</cp:lastModifiedBy>
  <cp:revision>2</cp:revision>
  <dcterms:created xsi:type="dcterms:W3CDTF">2026-07-09T09:17:06Z</dcterms:created>
  <dcterms:modified xsi:type="dcterms:W3CDTF">2026-07-09T09:23:49Z</dcterms:modified>
</cp:coreProperties>
</file>